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8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Painel IoT Distribuído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com Monitoramento em Tempo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Leonardo Cardoso de Moura | Matrícula: 32021BSI004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08 de maio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 Micro-mundo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931920" cy="5029200"/>
          </a:xfrm>
          <a:prstGeom prst="roundRect">
            <a:avLst/>
          </a:prstGeom>
          <a:solidFill>
            <a:srgbClr val="ECF2FA"/>
          </a:solidFill>
          <a:ln w="381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23866"/>
                </a:solidFill>
              </a:defRPr>
            </a:pPr>
            <a:r>
              <a:t>Características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Coleta contínua de dados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Múltiplos nós geograficamente distribuídos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Sincronização centralizada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Dashboard web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Displays locais OLED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097280"/>
            <a:ext cx="3931920" cy="5029200"/>
          </a:xfrm>
          <a:prstGeom prst="roundRect">
            <a:avLst/>
          </a:prstGeom>
          <a:solidFill>
            <a:srgbClr val="EBF7F1"/>
          </a:solidFill>
          <a:ln w="381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23866"/>
                </a:solidFill>
              </a:defRPr>
            </a:pPr>
            <a:r>
              <a:t>Sensores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Temperatura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Umidade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Pressão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Força de sinal WiFi (RSSI)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• Qualidade de conexão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 que o Sistema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1. Coleta contínua de leituras de sensores (temperatura, umidade, pressão)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2. Monitoramento de força e qualidade de sinal WiFi para diagnóstico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3. Exibição em tempo real em telas OLED com animações responsivas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4. Controle interativo via sensor de toque capacitivo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5. Sincronização com servidor central através de API HTTP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6. Persistência de séries temporais em PostgreSQL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7. Dashboard web para visualização e controle remoto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Arquitetura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2400" b="1">
                <a:solidFill>
                  <a:srgbClr val="123866"/>
                </a:solidFill>
              </a:defRPr>
            </a:pPr>
            <a:r>
              <a:t>ESP32/ESP8266 → [WiFi] → Nginx → API Node.js → PostgreSQL</a:t>
            </a:r>
          </a:p>
          <a:p/>
          <a:p>
            <a:pPr>
              <a:spcBef>
                <a:spcPts val="800"/>
              </a:spcBef>
              <a:defRPr sz="1600">
                <a:solidFill>
                  <a:srgbClr val="1C7856"/>
                </a:solidFill>
              </a:defRPr>
            </a:pPr>
            <a:r>
              <a:t>  ESP32 (Sala)  ─WiFi POST→</a:t>
            </a:r>
          </a:p>
          <a:p>
            <a:pPr>
              <a:spcBef>
                <a:spcPts val="800"/>
              </a:spcBef>
              <a:defRPr sz="1600">
                <a:solidFill>
                  <a:srgbClr val="1C7856"/>
                </a:solidFill>
              </a:defRPr>
            </a:pPr>
            <a:r>
              <a:t>  Nginx  ─HTTP→</a:t>
            </a:r>
          </a:p>
          <a:p>
            <a:pPr>
              <a:spcBef>
                <a:spcPts val="800"/>
              </a:spcBef>
              <a:defRPr sz="1600">
                <a:solidFill>
                  <a:srgbClr val="1C7856"/>
                </a:solidFill>
              </a:defRPr>
            </a:pPr>
            <a:r>
              <a:t>  API Node.js  ─TCP→</a:t>
            </a:r>
          </a:p>
          <a:p>
            <a:pPr>
              <a:spcBef>
                <a:spcPts val="800"/>
              </a:spcBef>
              <a:defRPr sz="1600">
                <a:solidFill>
                  <a:srgbClr val="1C7856"/>
                </a:solidFill>
              </a:defRPr>
            </a:pPr>
            <a:r>
              <a:t> 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Infraestrutura Física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743200" cy="182880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23866"/>
                </a:solidFill>
              </a:defRPr>
            </a:pPr>
            <a:r>
              <a:t>Raspberry Pi 3B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PostgreSQL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DB persistente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IP: 192.168.1.10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Ethernet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097280"/>
            <a:ext cx="2743200" cy="1828800"/>
          </a:xfrm>
          <a:prstGeom prst="roundRect">
            <a:avLst/>
          </a:prstGeom>
          <a:solidFill>
            <a:srgbClr val="EBF7F1"/>
          </a:solidFill>
          <a:ln w="254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23866"/>
                </a:solidFill>
              </a:defRPr>
            </a:pPr>
            <a:r>
              <a:t>Notebook (Linux Mint)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Node.js API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Nginx proxy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IP: 192.168.1.11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WiFi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2286000" cy="182880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23866"/>
                </a:solidFill>
              </a:defRPr>
            </a:pPr>
            <a:r>
              <a:t>ESP32/ESP8266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Múltiplos nós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Sensores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WiFi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OLED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3866"/>
                </a:solidFill>
              </a:defRPr>
            </a:pPr>
            <a:r>
              <a:t>Protocolo: HTTP POST com payload JSON</a:t>
            </a:r>
          </a:p>
          <a:p>
            <a:pPr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• Frequência: 30-60s</a:t>
            </a:r>
          </a:p>
          <a:p>
            <a:pPr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• Buffer local: 10 leituras</a:t>
            </a:r>
          </a:p>
          <a:p>
            <a:pPr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• Auto-recover: WiFi com backoff</a:t>
            </a:r>
          </a:p>
          <a:p>
            <a:pPr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• Rate limiting: CORS + compressão gzip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Sensores Instalados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4114800" cy="256032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3866"/>
                </a:solidFill>
              </a:defRPr>
            </a:pPr>
            <a:r>
              <a:t>BMP280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Temp: -40 a +85°C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Pressão: 300-1100 hPa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Proto: I2C/SPI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Precisão: ±1°C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97280"/>
            <a:ext cx="4114800" cy="2560320"/>
          </a:xfrm>
          <a:prstGeom prst="roundRect">
            <a:avLst/>
          </a:prstGeom>
          <a:solidFill>
            <a:srgbClr val="EBF7F1"/>
          </a:solidFill>
          <a:ln w="254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3866"/>
                </a:solidFill>
              </a:defRPr>
            </a:pPr>
            <a:r>
              <a:t>DHT11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Temp: 0-50°C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Umidade: 20-80%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Proto: Single-wire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Precisão: ±2°C, ±5%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931920"/>
            <a:ext cx="8412480" cy="256032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23866"/>
                </a:solidFill>
              </a:defRPr>
            </a:pPr>
            <a:r>
              <a:t>RSSI (Received Signal Strength Indicator)</a:t>
            </a:r>
          </a:p>
          <a:p>
            <a:pPr>
              <a:spcAft>
                <a:spcPts val="800"/>
              </a:spcAft>
              <a:defRPr sz="1200">
                <a:solidFill>
                  <a:srgbClr val="505050"/>
                </a:solidFill>
              </a:defRPr>
            </a:pPr>
            <a:r>
              <a:t>Monitoramento de qualidade de sinal WiFi: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Diagnóstico real de cobertura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Detecção de interferência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• Planejamento de repetidores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Displays e Interatividade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486400" cy="502920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3866"/>
                </a:solidFill>
              </a:defRPr>
            </a:pPr>
            <a:r>
              <a:t>Display OLED SSD1306</a:t>
            </a:r>
          </a:p>
          <a:p>
            <a:pPr>
              <a:spcBef>
                <a:spcPts val="400"/>
              </a:spcBef>
              <a:defRPr sz="1300">
                <a:solidFill>
                  <a:srgbClr val="505050"/>
                </a:solidFill>
              </a:defRPr>
            </a:pPr>
            <a:r>
              <a:t>• 128×64 pixels</a:t>
            </a:r>
          </a:p>
          <a:p>
            <a:pPr>
              <a:spcBef>
                <a:spcPts val="400"/>
              </a:spcBef>
              <a:defRPr sz="1300">
                <a:solidFill>
                  <a:srgbClr val="505050"/>
                </a:solidFill>
              </a:defRPr>
            </a:pPr>
            <a:r>
              <a:t>• Protocolo I2C</a:t>
            </a:r>
          </a:p>
          <a:p>
            <a:pPr>
              <a:spcBef>
                <a:spcPts val="400"/>
              </a:spcBef>
              <a:defRPr sz="1300">
                <a:solidFill>
                  <a:srgbClr val="505050"/>
                </a:solidFill>
              </a:defRPr>
            </a:pPr>
            <a:r>
              <a:t>• Taxa: 1-2 Hz</a:t>
            </a:r>
          </a:p>
          <a:p>
            <a:pPr>
              <a:spcBef>
                <a:spcPts val="400"/>
              </a:spcBef>
              <a:defRPr sz="1300">
                <a:solidFill>
                  <a:srgbClr val="505050"/>
                </a:solidFill>
              </a:defRPr>
            </a:pPr>
            <a:r>
              <a:t>• Temperatura real</a:t>
            </a:r>
          </a:p>
          <a:p>
            <a:pPr>
              <a:spcBef>
                <a:spcPts val="400"/>
              </a:spcBef>
              <a:defRPr sz="1300">
                <a:solidFill>
                  <a:srgbClr val="505050"/>
                </a:solidFill>
              </a:defRPr>
            </a:pPr>
            <a:r>
              <a:t>• Força WiFi</a:t>
            </a:r>
          </a:p>
          <a:p>
            <a:pPr>
              <a:spcBef>
                <a:spcPts val="400"/>
              </a:spcBef>
              <a:defRPr sz="1300">
                <a:solidFill>
                  <a:srgbClr val="505050"/>
                </a:solidFill>
              </a:defRPr>
            </a:pPr>
            <a:r>
              <a:t>• Animações rosto</a:t>
            </a:r>
          </a:p>
          <a:p>
            <a:pPr>
              <a:spcBef>
                <a:spcPts val="400"/>
              </a:spcBef>
              <a:defRPr sz="1300">
                <a:solidFill>
                  <a:srgbClr val="505050"/>
                </a:solidFill>
              </a:defRPr>
            </a:pPr>
            <a:r>
              <a:t>• Status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097280"/>
            <a:ext cx="2743200" cy="5029200"/>
          </a:xfrm>
          <a:prstGeom prst="roundRect">
            <a:avLst/>
          </a:prstGeom>
          <a:solidFill>
            <a:srgbClr val="EBF7F1"/>
          </a:solidFill>
          <a:ln w="254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3866"/>
                </a:solidFill>
              </a:defRPr>
            </a:pPr>
            <a:r>
              <a:t>Sensor TTP223</a:t>
            </a:r>
          </a:p>
          <a:p>
            <a:pPr>
              <a:spcBef>
                <a:spcPts val="600"/>
              </a:spcBef>
              <a:defRPr sz="1300">
                <a:solidFill>
                  <a:srgbClr val="505050"/>
                </a:solidFill>
              </a:defRPr>
            </a:pPr>
            <a:r>
              <a:t>• Capacitivo</a:t>
            </a:r>
          </a:p>
          <a:p>
            <a:pPr>
              <a:spcBef>
                <a:spcPts val="600"/>
              </a:spcBef>
              <a:defRPr sz="1300">
                <a:solidFill>
                  <a:srgbClr val="505050"/>
                </a:solidFill>
              </a:defRPr>
            </a:pPr>
            <a:r>
              <a:t>• 5 expressões</a:t>
            </a:r>
          </a:p>
          <a:p>
            <a:pPr>
              <a:spcBef>
                <a:spcPts val="600"/>
              </a:spcBef>
              <a:defRPr sz="1300">
                <a:solidFill>
                  <a:srgbClr val="505050"/>
                </a:solidFill>
              </a:defRPr>
            </a:pPr>
            <a:r>
              <a:t>• Debounce 300ms</a:t>
            </a:r>
          </a:p>
          <a:p>
            <a:pPr>
              <a:spcBef>
                <a:spcPts val="600"/>
              </a:spcBef>
              <a:defRPr sz="1300">
                <a:solidFill>
                  <a:srgbClr val="505050"/>
                </a:solidFill>
              </a:defRPr>
            </a:pPr>
            <a:r>
              <a:t>• Ciclagem ao tocar</a:t>
            </a:r>
          </a:p>
          <a:p>
            <a:pPr>
              <a:spcBef>
                <a:spcPts val="1500"/>
              </a:spcBef>
            </a:pPr>
          </a:p>
          <a:p>
            <a:pPr algn="ctr">
              <a:defRPr sz="2400"/>
            </a:pPr>
            <a:r>
              <a:t>😊 😢 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Schema PostgreSQL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164592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23866"/>
                </a:solidFill>
              </a:defRPr>
            </a:pPr>
            <a:r>
              <a:t>Tabela: telemetry (TimescaleDB)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time (TIMESTAMP), device_id, temperature_c, humidity_percent, pressure_hpa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rssi_dbm, battery_voltage, Retenção: 90 dias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926080"/>
            <a:ext cx="8412480" cy="1371600"/>
          </a:xfrm>
          <a:prstGeom prst="roundRect">
            <a:avLst/>
          </a:prstGeom>
          <a:solidFill>
            <a:srgbClr val="EBF7F1"/>
          </a:solidFill>
          <a:ln w="254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23866"/>
                </a:solidFill>
              </a:defRPr>
            </a:pPr>
            <a:r>
              <a:t>Tabela: devices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ID, nome, localização, status, last_seen, firmware_version, ip_address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572000"/>
            <a:ext cx="8412480" cy="164592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23866"/>
                </a:solidFill>
              </a:defRPr>
            </a:pPr>
            <a:r>
              <a:t>Tabela: alerts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ID, device_id, alert_type, severity, created_at, resolved_at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Objetivos de Sistemas Distribuídos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412480" cy="109728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23866"/>
                </a:solidFill>
              </a:defRPr>
            </a:pPr>
            <a:r>
              <a:t>1. Escalabilidade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Novos nós podem ser adicionados sem redesenho. Nginx permite escalabilidade horizontal.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331720"/>
            <a:ext cx="8412480" cy="1097280"/>
          </a:xfrm>
          <a:prstGeom prst="roundRect">
            <a:avLst/>
          </a:prstGeom>
          <a:solidFill>
            <a:srgbClr val="EBF7F1"/>
          </a:solidFill>
          <a:ln w="254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23866"/>
                </a:solidFill>
              </a:defRPr>
            </a:pPr>
            <a:r>
              <a:t>2. Disponibilidade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Buffer local em ESP, Nginx e API redundantes, PostgreSQL com snapshots automáticos.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566160"/>
            <a:ext cx="8412480" cy="109728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23866"/>
                </a:solidFill>
              </a:defRPr>
            </a:pPr>
            <a:r>
              <a:t>3. Tolerância a Falhas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Reconexão automática, retry com backoff, health check, fila de mensagens locais.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800600"/>
            <a:ext cx="8412480" cy="1097280"/>
          </a:xfrm>
          <a:prstGeom prst="roundRect">
            <a:avLst/>
          </a:prstGeom>
          <a:solidFill>
            <a:srgbClr val="EBF7F1"/>
          </a:solidFill>
          <a:ln w="254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23866"/>
                </a:solidFill>
              </a:defRPr>
            </a:pPr>
            <a:r>
              <a:t>4. Compartilhamento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Nginx como ponto centralizado, PostgreSQL como estado único, transações ACID.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Desafios Reais do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4114800" cy="5029200"/>
          </a:xfrm>
          <a:prstGeom prst="roundRect">
            <a:avLst/>
          </a:prstGeom>
          <a:solidFill>
            <a:srgbClr val="ECF2FA"/>
          </a:solidFill>
          <a:ln w="254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123866"/>
                </a:solidFill>
              </a:defRPr>
            </a:pPr>
            <a:r>
              <a:t>Infraestrutura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IP dinâmico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Falhas WiFi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Latência variável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Nós dispersos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97280"/>
            <a:ext cx="4114800" cy="5029200"/>
          </a:xfrm>
          <a:prstGeom prst="roundRect">
            <a:avLst/>
          </a:prstGeom>
          <a:solidFill>
            <a:srgbClr val="EBF7F1"/>
          </a:solidFill>
          <a:ln w="25400">
            <a:solidFill>
              <a:srgbClr val="1C7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123866"/>
                </a:solidFill>
              </a:defRPr>
            </a:pPr>
            <a:r>
              <a:t>Soluções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DHCP estático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Buffer local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Backoff exponencial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• Sincronização periódica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Próximas Etapas de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2: Threads em Node.js, processamento paralelo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3: UDP para comunicação de baixa latência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4: RPC entre servidores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5: Message Bus (RabbitMQ/MQTT)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6: Service Discovery (mDNS/Consul)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7: Mutual exclusion, eleição de líder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8: Replicação com consistência eventual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9: Circuit breaker, resiliência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505050"/>
                </a:solidFill>
              </a:defRPr>
            </a:pPr>
            <a:r>
              <a:t>  Etapa 10: TLS, autenticação mútua, JWT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3866"/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8229600" cy="4114800"/>
          </a:xfrm>
          <a:prstGeom prst="roundRect">
            <a:avLst/>
          </a:prstGeom>
          <a:solidFill>
            <a:srgbClr val="ECF2FA"/>
          </a:solidFill>
          <a:ln w="38100"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2200">
                <a:solidFill>
                  <a:srgbClr val="123866"/>
                </a:solidFill>
              </a:defRPr>
            </a:pPr>
            <a:r>
              <a:t>Um Sistema Distribuído Real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▸ Infraestrutura genuinamente prática e doméstica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▸ Múltiplos nós heterogêneos (Raspberry, Notebook, ESP32/ESP8266)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▸ Rede WiFi com falhas esperadas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▸ Persistência centralizada</a:t>
            </a:r>
          </a:p>
          <a:p>
            <a:pPr>
              <a:spcBef>
                <a:spcPts val="800"/>
              </a:spcBef>
              <a:defRPr sz="1400">
                <a:solidFill>
                  <a:srgbClr val="505050"/>
                </a:solidFill>
              </a:defRPr>
            </a:pPr>
            <a:r>
              <a:t>▸ Desafios reais de sincronização e resiliência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C7856"/>
                </a:solidFill>
              </a:defRPr>
            </a:pPr>
            <a:r>
              <a:t>Fundação Sólida para Conceitos Avançados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8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Leonardo Cardoso de Moura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Disciplina: Sistemas Distribuídos | 08 de maio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